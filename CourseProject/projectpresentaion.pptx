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9"/>
  </p:notesMasterIdLst>
  <p:sldIdLst>
    <p:sldId id="256" r:id="rId2"/>
    <p:sldId id="266" r:id="rId3"/>
    <p:sldId id="257" r:id="rId4"/>
    <p:sldId id="258" r:id="rId5"/>
    <p:sldId id="267" r:id="rId6"/>
    <p:sldId id="273" r:id="rId7"/>
    <p:sldId id="274" r:id="rId8"/>
    <p:sldId id="276" r:id="rId9"/>
    <p:sldId id="260" r:id="rId10"/>
    <p:sldId id="268" r:id="rId11"/>
    <p:sldId id="269" r:id="rId12"/>
    <p:sldId id="270" r:id="rId13"/>
    <p:sldId id="275" r:id="rId14"/>
    <p:sldId id="264" r:id="rId15"/>
    <p:sldId id="271" r:id="rId16"/>
    <p:sldId id="265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86" autoAdjust="0"/>
    <p:restoredTop sz="90894" autoAdjust="0"/>
  </p:normalViewPr>
  <p:slideViewPr>
    <p:cSldViewPr snapToGrid="0">
      <p:cViewPr>
        <p:scale>
          <a:sx n="75" d="100"/>
          <a:sy n="75" d="100"/>
        </p:scale>
        <p:origin x="9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E0A38E89-C48F-4F20-B64E-A49F98CD0AB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32BD6681-AF6C-463B-962E-1F8B7D0C4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5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Tree Construction: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minimum value becomes the root.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Parent-Distance Encoding: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Your code calculates the distance to the nearest smaller value on the left using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Why use it?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captures the hierarchical structure of the data (peaks and valleys) very efficiently</a:t>
            </a:r>
            <a:endParaRPr lang="en-US" dirty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6681-AF6C-463B-962E-1F8B7D0C40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88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שלושת גרפים ראשונים אנו עובדים על העמודה החודשית בגרף האחרון עמודה שנתית ולכן הגרף שונה שם</a:t>
            </a:r>
            <a:endParaRPr lang="en-US" dirty="0"/>
          </a:p>
          <a:p>
            <a:br>
              <a:rPr lang="en-US" dirty="0"/>
            </a:br>
            <a:br>
              <a:rPr lang="en-US" dirty="0"/>
            </a:br>
            <a:r>
              <a:rPr lang="he-IL" dirty="0"/>
              <a:t>עבור </a:t>
            </a:r>
            <a:r>
              <a:rPr lang="en-US" dirty="0"/>
              <a:t>L</a:t>
            </a:r>
            <a:r>
              <a:rPr lang="he-IL" dirty="0"/>
              <a:t>=3 יש רק 3!</a:t>
            </a:r>
            <a:r>
              <a:rPr lang="en-US" dirty="0"/>
              <a:t> </a:t>
            </a:r>
            <a:r>
              <a:rPr lang="he-IL" dirty="0"/>
              <a:t>= 6 פרמוטציות ולכן מאוד סביר שיהיו המון תוצאות אשר שייכות לאותו </a:t>
            </a:r>
            <a:r>
              <a:rPr lang="he-IL" dirty="0" err="1"/>
              <a:t>מוטיף</a:t>
            </a:r>
            <a:endParaRPr lang="en-US" dirty="0"/>
          </a:p>
          <a:p>
            <a:r>
              <a:rPr lang="he-IL" dirty="0"/>
              <a:t>יש המון רעש אבל ניתן לראות שיש מגמת עלייה:</a:t>
            </a:r>
            <a:br>
              <a:rPr lang="en-US" dirty="0"/>
            </a:br>
            <a:r>
              <a:rPr lang="he-IL" dirty="0"/>
              <a:t> אם זאת הממוצע של </a:t>
            </a:r>
            <a:r>
              <a:rPr lang="en-US" dirty="0"/>
              <a:t>CTM</a:t>
            </a:r>
            <a:r>
              <a:rPr lang="he-IL" dirty="0"/>
              <a:t> יוצא שלילי כלומר מעיד על מגמת ירידה בניגוד לגרף, זאת מכיוון שהיו המון שלושה חודשים אשר התגלו </a:t>
            </a:r>
            <a:r>
              <a:rPr lang="he-IL" dirty="0" err="1"/>
              <a:t>כמוטיפים</a:t>
            </a:r>
            <a:r>
              <a:rPr lang="he-IL" dirty="0"/>
              <a:t> אשר היו במגמת ירידה</a:t>
            </a:r>
            <a:br>
              <a:rPr lang="en-US" dirty="0"/>
            </a:br>
            <a:r>
              <a:rPr lang="he-IL" dirty="0"/>
              <a:t>מסקנה: שלושה חודשים הינו זמן קצר מדי אשר גרם למידע שגויי להתגלות</a:t>
            </a:r>
            <a:br>
              <a:rPr lang="en-US" dirty="0"/>
            </a:br>
            <a:r>
              <a:rPr lang="he-IL" dirty="0"/>
              <a:t>סיבה אפשרית לכך היא שזהו גרף עונתי והחורף ארוך מהקיץ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he-IL" dirty="0"/>
              <a:t>אבל למרות כל זאת עדיין יש שימוש למצגת זו: היא מראה שהאלגוריתם עובד!</a:t>
            </a:r>
            <a:br>
              <a:rPr lang="en-US" dirty="0"/>
            </a:br>
            <a:r>
              <a:rPr lang="he-IL" dirty="0"/>
              <a:t>כל פעם בקיץ ניתן לראות שהטמפרטורות עולות ולאחר מכן בחורף יש ירידה אשר מאזנת את הטמפרטורות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6681-AF6C-463B-962E-1F8B7D0C40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44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to see the expected trends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6681-AF6C-463B-962E-1F8B7D0C40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57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כאן קרה ולא התגלו </a:t>
            </a:r>
            <a:r>
              <a:rPr lang="he-IL" dirty="0" err="1"/>
              <a:t>מוטיפים</a:t>
            </a:r>
            <a:r>
              <a:rPr lang="he-IL" dirty="0"/>
              <a:t> כמעט כלל ולכן אין מידע להסיק</a:t>
            </a:r>
            <a:endParaRPr lang="en-US" dirty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6681-AF6C-463B-962E-1F8B7D0C40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41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עבור גרף שנתי כמעט ולא התגלו הרבה </a:t>
            </a:r>
            <a:r>
              <a:rPr lang="he-IL" dirty="0" err="1"/>
              <a:t>מוטיפים</a:t>
            </a:r>
            <a:r>
              <a:rPr lang="he-IL" dirty="0"/>
              <a:t> כמצופה </a:t>
            </a:r>
            <a:r>
              <a:rPr lang="en-US" dirty="0"/>
              <a:t>L</a:t>
            </a:r>
            <a:r>
              <a:rPr lang="he-IL" dirty="0"/>
              <a:t>=12</a:t>
            </a:r>
            <a:br>
              <a:rPr lang="en-US" dirty="0"/>
            </a:br>
            <a:r>
              <a:rPr lang="he-IL" dirty="0"/>
              <a:t>12!</a:t>
            </a:r>
            <a:r>
              <a:rPr lang="en-US" dirty="0"/>
              <a:t> </a:t>
            </a:r>
            <a:r>
              <a:rPr lang="he-IL" dirty="0"/>
              <a:t>נדרשו עבור מציאת </a:t>
            </a:r>
            <a:r>
              <a:rPr lang="he-IL" dirty="0" err="1"/>
              <a:t>מוטיף</a:t>
            </a:r>
            <a:r>
              <a:rPr lang="he-IL" dirty="0"/>
              <a:t> אך עדיין העליות היו כאילו תלולות שהיה ניתן למצוא </a:t>
            </a:r>
            <a:r>
              <a:rPr lang="he-IL" dirty="0" err="1"/>
              <a:t>מוטיפים</a:t>
            </a:r>
            <a:r>
              <a:rPr lang="he-IL" dirty="0"/>
              <a:t> כלומר היו שנים שבהן ראו עליה בטמפרטורות!</a:t>
            </a:r>
            <a:br>
              <a:rPr lang="en-US" dirty="0"/>
            </a:br>
            <a:r>
              <a:rPr lang="he-IL" dirty="0"/>
              <a:t>אבל מאילו שהתגלו ניתן לראות באופן ברור שיש מגמת עלייה</a:t>
            </a:r>
            <a:endParaRPr lang="en-US" dirty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6681-AF6C-463B-962E-1F8B7D0C40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9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6681-AF6C-463B-962E-1F8B7D0C40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30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8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1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6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6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4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2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6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8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3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43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0511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57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88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00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31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7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7C576-57B9-42E4-8199-EAABAA0BF52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15EE9-D9F4-43BE-8E26-120972A5F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64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E9898D-A32A-A207-831C-C7825749D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2926" y="1831051"/>
            <a:ext cx="9144000" cy="2387600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4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Discovering patterns in Global Temperature</a:t>
            </a:r>
            <a:b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Order-Preserving Motifs (OPM) &amp; Cartesian Tree Matching (CTM)</a:t>
            </a:r>
            <a:b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3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2DF5246-EE27-5D2D-74B4-ECFC67E5A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5913" y="3024851"/>
            <a:ext cx="1730636" cy="1117687"/>
          </a:xfrm>
        </p:spPr>
        <p:txBody>
          <a:bodyPr>
            <a:normAutofit/>
          </a:bodyPr>
          <a:lstStyle/>
          <a:p>
            <a:r>
              <a:rPr lang="en-US" dirty="0"/>
              <a:t>Yoni Grinberg</a:t>
            </a:r>
            <a:br>
              <a:rPr lang="en-US" dirty="0"/>
            </a:br>
            <a:r>
              <a:rPr lang="en-US" dirty="0"/>
              <a:t>Yuval Shahar</a:t>
            </a:r>
            <a:br>
              <a:rPr lang="en-US" dirty="0"/>
            </a:br>
            <a:endParaRPr lang="en-US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DA8DB7D-8143-4152-728D-08BF8B954A45}"/>
              </a:ext>
            </a:extLst>
          </p:cNvPr>
          <p:cNvSpPr txBox="1"/>
          <p:nvPr/>
        </p:nvSpPr>
        <p:spPr>
          <a:xfrm>
            <a:off x="1642174" y="3773206"/>
            <a:ext cx="619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Set: Berkeley Earth Global Temperature Anomalies</a:t>
            </a:r>
          </a:p>
        </p:txBody>
      </p:sp>
    </p:spTree>
    <p:extLst>
      <p:ext uri="{BB962C8B-B14F-4D97-AF65-F5344CB8AC3E}">
        <p14:creationId xmlns:p14="http://schemas.microsoft.com/office/powerpoint/2010/main" val="1469122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A7299860-AF47-18A5-F648-3E6BEA704150}"/>
              </a:ext>
            </a:extLst>
          </p:cNvPr>
          <p:cNvSpPr txBox="1"/>
          <p:nvPr/>
        </p:nvSpPr>
        <p:spPr>
          <a:xfrm>
            <a:off x="2762530" y="847984"/>
            <a:ext cx="6094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Dataset: Berkeley Earth High-Resolution Land-Only Average.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EEF10E5C-0A70-4E61-F5A6-35FD9B7FE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530" y="1734298"/>
            <a:ext cx="6239746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4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B0B6053-1DBA-3C99-BC8F-687EEDFCB9F0}"/>
              </a:ext>
            </a:extLst>
          </p:cNvPr>
          <p:cNvSpPr txBox="1"/>
          <p:nvPr/>
        </p:nvSpPr>
        <p:spPr>
          <a:xfrm>
            <a:off x="2360268" y="72228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400" dirty="0"/>
            </a:br>
            <a:r>
              <a:rPr lang="en-US" sz="2400" dirty="0"/>
              <a:t>THE PROBLEM:</a:t>
            </a:r>
            <a:br>
              <a:rPr lang="en-US" sz="2400" dirty="0"/>
            </a:br>
            <a:r>
              <a:rPr lang="en-US" sz="2400" dirty="0"/>
              <a:t>We need to find "shapes" and "trends“ rather than exact numbers.</a:t>
            </a:r>
            <a:br>
              <a:rPr lang="en-US" sz="2400" dirty="0"/>
            </a:br>
            <a:r>
              <a:rPr lang="en-US" sz="2400" dirty="0"/>
              <a:t>Raw values almost never repeat exactly, therefor it is extremely hard to draw conclusions based on patterns.</a:t>
            </a:r>
          </a:p>
          <a:p>
            <a:r>
              <a:rPr lang="en-US" sz="2400" dirty="0"/>
              <a:t>Solution:</a:t>
            </a:r>
            <a:br>
              <a:rPr lang="en-US" sz="2400" dirty="0"/>
            </a:br>
            <a:r>
              <a:rPr lang="en-US" sz="2400" dirty="0"/>
              <a:t>CTM and OPM for pattern recognition.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576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7F9194A-5B2D-B232-9692-D39089FC16FA}"/>
              </a:ext>
            </a:extLst>
          </p:cNvPr>
          <p:cNvSpPr txBox="1"/>
          <p:nvPr/>
        </p:nvSpPr>
        <p:spPr>
          <a:xfrm>
            <a:off x="2838450" y="399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Order Preserving Motifs (OPM)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12B2696-842A-24F4-AEB9-A21A65C202B9}"/>
              </a:ext>
            </a:extLst>
          </p:cNvPr>
          <p:cNvSpPr txBox="1"/>
          <p:nvPr/>
        </p:nvSpPr>
        <p:spPr>
          <a:xfrm>
            <a:off x="1346200" y="8776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i="1" dirty="0"/>
              <a:t>Allows perspective of the relative rank</a:t>
            </a:r>
            <a:r>
              <a:rPr lang="en-US" dirty="0"/>
              <a:t> of the data points, not the values.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9A4D057-58F2-56AC-8C96-A11CC33322BE}"/>
              </a:ext>
            </a:extLst>
          </p:cNvPr>
          <p:cNvSpPr txBox="1"/>
          <p:nvPr/>
        </p:nvSpPr>
        <p:spPr>
          <a:xfrm>
            <a:off x="1346200" y="15754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How the Algorithm Works :</a:t>
            </a:r>
          </a:p>
        </p:txBody>
      </p:sp>
    </p:spTree>
    <p:extLst>
      <p:ext uri="{BB962C8B-B14F-4D97-AF65-F5344CB8AC3E}">
        <p14:creationId xmlns:p14="http://schemas.microsoft.com/office/powerpoint/2010/main" val="13293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F989-F7BC-06DD-A873-9574FB57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719016C7-4B12-ECF5-528C-EA7A9C4B6F2F}"/>
              </a:ext>
            </a:extLst>
          </p:cNvPr>
          <p:cNvSpPr txBox="1"/>
          <p:nvPr/>
        </p:nvSpPr>
        <p:spPr>
          <a:xfrm>
            <a:off x="2838450" y="399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Cartesian Tree Matching (CTM)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6B8675F7-4E1D-FA42-3907-45BD98BF05F2}"/>
              </a:ext>
            </a:extLst>
          </p:cNvPr>
          <p:cNvSpPr txBox="1"/>
          <p:nvPr/>
        </p:nvSpPr>
        <p:spPr>
          <a:xfrm>
            <a:off x="1346200" y="877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represent the data as a geometric tree structure.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F2521445-71D1-6EF1-A369-2B741BBD1314}"/>
              </a:ext>
            </a:extLst>
          </p:cNvPr>
          <p:cNvSpPr txBox="1"/>
          <p:nvPr/>
        </p:nvSpPr>
        <p:spPr>
          <a:xfrm>
            <a:off x="1380435" y="15400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How the Algorithm Works :</a:t>
            </a:r>
          </a:p>
        </p:txBody>
      </p:sp>
    </p:spTree>
    <p:extLst>
      <p:ext uri="{BB962C8B-B14F-4D97-AF65-F5344CB8AC3E}">
        <p14:creationId xmlns:p14="http://schemas.microsoft.com/office/powerpoint/2010/main" val="96166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19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9FA2-A7FB-66E4-5E1E-B571E84377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לבנות גרף עבור עשרת המוטיבים הגדולים ביותר של </a:t>
            </a:r>
            <a:r>
              <a:rPr lang="en-US" dirty="0"/>
              <a:t>CTM,OPM.</a:t>
            </a:r>
            <a:br>
              <a:rPr lang="en-US" dirty="0"/>
            </a:b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762C6-AE77-9861-4F42-5276C3CDD2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385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5575-C759-C784-4FC9-49186572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עץ של איך נראה העץ של </a:t>
            </a:r>
            <a:r>
              <a:rPr lang="en-US" dirty="0"/>
              <a:t> CTF TOP </a:t>
            </a:r>
            <a:r>
              <a:rPr lang="he-IL" dirty="0"/>
              <a:t> עצים משמעותיים</a:t>
            </a:r>
            <a:br>
              <a:rPr lang="en-US" dirty="0"/>
            </a:b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F0BDD-8B7B-65EF-1377-C339219AD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0124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AA4882-461B-DF2E-9401-08C0485F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OPM &amp; CTM Graph Results </a:t>
            </a:r>
            <a:r>
              <a:rPr lang="he-IL" dirty="0"/>
              <a:t>להרחיב את הגרף</a:t>
            </a:r>
            <a:br>
              <a:rPr lang="he-IL" dirty="0"/>
            </a:br>
            <a:endParaRPr lang="en-US" dirty="0"/>
          </a:p>
        </p:txBody>
      </p:sp>
      <p:pic>
        <p:nvPicPr>
          <p:cNvPr id="5" name="מציין מיקום תוכן 4" descr="תמונה שמכילה טקסט, צילום מסך, עלילה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AE84080-F469-8313-5BA5-30C7C0C91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324" y="1975360"/>
            <a:ext cx="6742368" cy="4563422"/>
          </a:xfr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A6C1A4E-42E9-B1E5-8C57-1FB293A666A4}"/>
              </a:ext>
            </a:extLst>
          </p:cNvPr>
          <p:cNvSpPr txBox="1"/>
          <p:nvPr/>
        </p:nvSpPr>
        <p:spPr>
          <a:xfrm>
            <a:off x="0" y="235180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In our algorithm: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L</a:t>
            </a:r>
            <a:r>
              <a:rPr lang="en-US" dirty="0"/>
              <a:t> = length of the motif.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Data points = monthly values </a:t>
            </a:r>
            <a:br>
              <a:rPr lang="en-US" dirty="0"/>
            </a:br>
            <a:endParaRPr lang="en-US" dirty="0"/>
          </a:p>
          <a:p>
            <a:pPr algn="l" rtl="0"/>
            <a:r>
              <a:rPr lang="en-US" dirty="0"/>
              <a:t> Therefore:</a:t>
            </a:r>
          </a:p>
          <a:p>
            <a:pPr algn="l" rtl="0"/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L</a:t>
            </a:r>
            <a:r>
              <a:rPr lang="en-US" dirty="0"/>
              <a:t> equals the number of consecutive</a:t>
            </a:r>
            <a:br>
              <a:rPr lang="en-US" dirty="0"/>
            </a:br>
            <a:r>
              <a:rPr lang="en-US" dirty="0"/>
              <a:t> months we analyze.</a:t>
            </a:r>
          </a:p>
        </p:txBody>
      </p:sp>
    </p:spTree>
    <p:extLst>
      <p:ext uri="{BB962C8B-B14F-4D97-AF65-F5344CB8AC3E}">
        <p14:creationId xmlns:p14="http://schemas.microsoft.com/office/powerpoint/2010/main" val="107837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53F4B-8606-5698-C0E5-2B8E7B99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6926003-03E4-4C2C-6AFF-AAE60CA0ED3B}"/>
              </a:ext>
            </a:extLst>
          </p:cNvPr>
          <p:cNvSpPr txBox="1"/>
          <p:nvPr/>
        </p:nvSpPr>
        <p:spPr>
          <a:xfrm>
            <a:off x="10966174" y="7794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OPM</a:t>
            </a:r>
            <a:br>
              <a:rPr lang="en-US" dirty="0"/>
            </a:br>
            <a:r>
              <a:rPr lang="en-US" dirty="0"/>
              <a:t>&amp;</a:t>
            </a:r>
            <a:br>
              <a:rPr lang="en-US" dirty="0"/>
            </a:br>
            <a:r>
              <a:rPr lang="en-US" dirty="0"/>
              <a:t>CTM </a:t>
            </a:r>
          </a:p>
        </p:txBody>
      </p:sp>
      <p:pic>
        <p:nvPicPr>
          <p:cNvPr id="4" name="מציין מיקום תוכן 4" descr="תמונה שמכילה טקסט, צילום מסך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9761CBB-E626-2222-959B-0C5269908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504" y="607480"/>
            <a:ext cx="8773499" cy="585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9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2F7C-B8FB-31CA-7C78-540E24DA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437D411-EC8D-7969-BA51-7C9741DBD8AA}"/>
              </a:ext>
            </a:extLst>
          </p:cNvPr>
          <p:cNvSpPr txBox="1"/>
          <p:nvPr/>
        </p:nvSpPr>
        <p:spPr>
          <a:xfrm>
            <a:off x="10966174" y="7794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OPM</a:t>
            </a:r>
            <a:br>
              <a:rPr lang="en-US" dirty="0"/>
            </a:br>
            <a:r>
              <a:rPr lang="en-US" dirty="0"/>
              <a:t>&amp;</a:t>
            </a:r>
            <a:br>
              <a:rPr lang="en-US" dirty="0"/>
            </a:br>
            <a:r>
              <a:rPr lang="en-US" dirty="0"/>
              <a:t>CTM </a:t>
            </a:r>
          </a:p>
        </p:txBody>
      </p:sp>
      <p:pic>
        <p:nvPicPr>
          <p:cNvPr id="5" name="מציין מיקום תוכן 4" descr="תמונה שמכילה טקסט, תרשים, צילום מסך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87C18CF-5274-A1E3-2078-FB978CBBA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817" y="606198"/>
            <a:ext cx="8920824" cy="564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459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98DF-99DA-EF6E-39C2-73C823EB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71F2BA3-350B-FD8C-2EE0-5EA3E67865EC}"/>
              </a:ext>
            </a:extLst>
          </p:cNvPr>
          <p:cNvSpPr txBox="1"/>
          <p:nvPr/>
        </p:nvSpPr>
        <p:spPr>
          <a:xfrm>
            <a:off x="10966174" y="7794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OPM</a:t>
            </a:r>
            <a:br>
              <a:rPr lang="en-US" dirty="0"/>
            </a:br>
            <a:r>
              <a:rPr lang="en-US" dirty="0"/>
              <a:t>&amp;</a:t>
            </a:r>
            <a:br>
              <a:rPr lang="en-US" dirty="0"/>
            </a:br>
            <a:r>
              <a:rPr lang="en-US" dirty="0"/>
              <a:t>CTM </a:t>
            </a:r>
          </a:p>
        </p:txBody>
      </p:sp>
      <p:pic>
        <p:nvPicPr>
          <p:cNvPr id="5" name="מציין מיקום תוכן 4" descr="תמונה שמכילה טקסט, צילום מסך, קו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46B517F-BCA1-5E95-81FB-1CCBECCF6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330" y="588004"/>
            <a:ext cx="8693997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91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1EE1-BCC7-2C5B-2FED-7F152338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CTM OPM</a:t>
            </a:r>
            <a:r>
              <a:rPr lang="he-IL" dirty="0"/>
              <a:t>גרף שך כל המוטיפים מאורכים שונים</a:t>
            </a:r>
            <a:br>
              <a:rPr lang="he-IL" dirty="0"/>
            </a:b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8C9B7-338E-502D-2D42-6AC7DD122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623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9FEDAD-36E4-C5B0-0A90-295D4421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Conclusions: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12CEA79-4BA7-33F3-6DF1-52C1779C0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We can see that the motifs suggests that there’s global warming between the years 1750 – 2025 primarily at the later years</a:t>
            </a:r>
            <a:br>
              <a:rPr lang="en-US" dirty="0"/>
            </a:br>
            <a:r>
              <a:rPr lang="en-US" dirty="0"/>
              <a:t>lets look at the graphs</a:t>
            </a:r>
          </a:p>
          <a:p>
            <a:pPr algn="l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773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8C764-6BC1-6326-74B5-BD808187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8A9C2B-2305-BE23-D270-0115D577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: Algorithmic Success!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8A63F34-0480-BC3E-C548-D7AC1774F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While standard exact matching would’ve returned 0 results.</a:t>
            </a:r>
          </a:p>
          <a:p>
            <a:pPr algn="l" rtl="0"/>
            <a:r>
              <a:rPr lang="en-US" dirty="0"/>
              <a:t>OPM and CTM extracted thousands of recurring events by ignoring the noise and focusing on the structure</a:t>
            </a:r>
          </a:p>
          <a:p>
            <a:pPr algn="l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14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15CE92-00AE-F206-447F-2F92BE579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938D27-8F73-52F8-7AC9-6AD0703AA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צריך להוסיף על מטלה 2?</a:t>
            </a:r>
            <a:br>
              <a:rPr lang="en-US" dirty="0"/>
            </a:br>
            <a:r>
              <a:rPr lang="he-IL" dirty="0"/>
              <a:t>צריך להסביר על האלגוריתם או רק התוצאות?</a:t>
            </a:r>
            <a:br>
              <a:rPr lang="en-US" dirty="0"/>
            </a:br>
            <a:r>
              <a:rPr lang="he-IL" dirty="0"/>
              <a:t>אלגוריתם כיצד מומש? מדוע מומש ככה? כיצד הוצאנו תוצאות מהקוד בפונקציה הראשית לאחר חילוץ </a:t>
            </a:r>
            <a:r>
              <a:rPr lang="he-IL" dirty="0" err="1"/>
              <a:t>מוטיפים</a:t>
            </a:r>
            <a:r>
              <a:rPr lang="he-IL" dirty="0"/>
              <a:t>? פשוט שמנו בגרף </a:t>
            </a:r>
            <a:br>
              <a:rPr lang="en-US" dirty="0"/>
            </a:br>
            <a:r>
              <a:rPr lang="he-IL" dirty="0"/>
              <a:t>האם כדאי להוסיף חד שנתי? כרגע השנתי הוא איחוד של 12 שנים שדווקא אהבתי כי אם יש מוטיפים כאילו ארוכים זה מעיד שיש התחממות ברורה</a:t>
            </a:r>
          </a:p>
          <a:p>
            <a:r>
              <a:rPr lang="he-IL" dirty="0"/>
              <a:t>האם צריך לשפר את סיבוכיות האלגוריתם.</a:t>
            </a:r>
          </a:p>
          <a:p>
            <a:r>
              <a:rPr lang="he-IL" dirty="0"/>
              <a:t>)</a:t>
            </a:r>
            <a:r>
              <a:rPr lang="en-US" dirty="0"/>
              <a:t>OPM</a:t>
            </a:r>
            <a:r>
              <a:rPr lang="he-IL" dirty="0"/>
              <a:t>(</a:t>
            </a:r>
            <a:endParaRPr lang="en-US" dirty="0"/>
          </a:p>
          <a:p>
            <a:r>
              <a:rPr lang="he-IL" dirty="0"/>
              <a:t>מטלה 2 האם מספיק על ערך אחד של חסם תחתון.</a:t>
            </a:r>
          </a:p>
          <a:p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82594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5F4996-2131-EFF8-CED4-D7B80EB3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משימות:</a:t>
            </a:r>
            <a:br>
              <a:rPr lang="en-US" dirty="0"/>
            </a:br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9B6A37B-E860-4EC4-5E40-04F419998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e-IL" dirty="0"/>
              <a:t> -  לתת הערות לקוד</a:t>
            </a:r>
            <a:r>
              <a:rPr lang="en-US" dirty="0"/>
              <a:t> </a:t>
            </a:r>
            <a:r>
              <a:rPr lang="he-IL" dirty="0"/>
              <a:t>יוני</a:t>
            </a:r>
          </a:p>
          <a:p>
            <a:r>
              <a:rPr lang="he-IL" dirty="0"/>
              <a:t>ללעשות את הדוח</a:t>
            </a:r>
            <a:r>
              <a:rPr lang="en-US" dirty="0"/>
              <a:t> -  </a:t>
            </a:r>
            <a:r>
              <a:rPr lang="he-IL" dirty="0"/>
              <a:t>יובל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סיים את המצגת</a:t>
            </a:r>
          </a:p>
          <a:p>
            <a:r>
              <a:rPr lang="he-IL" dirty="0"/>
              <a:t>לבנות גרף עבור עשרת המוטיבים הגדולים ביותר של </a:t>
            </a:r>
            <a:r>
              <a:rPr lang="en-US" dirty="0"/>
              <a:t>CTM,OPM. -</a:t>
            </a:r>
            <a:r>
              <a:rPr lang="en-US" dirty="0" err="1"/>
              <a:t>shahar</a:t>
            </a:r>
            <a:endParaRPr lang="en-US" dirty="0"/>
          </a:p>
          <a:p>
            <a:r>
              <a:rPr lang="en-US" dirty="0"/>
              <a:t>CTM OPM</a:t>
            </a:r>
            <a:r>
              <a:rPr lang="he-IL" dirty="0"/>
              <a:t>גרף שך כל המוטיפים מאורכים שונים</a:t>
            </a:r>
            <a:r>
              <a:rPr lang="en-US" dirty="0"/>
              <a:t>- yoni</a:t>
            </a:r>
            <a:endParaRPr lang="he-IL" dirty="0"/>
          </a:p>
          <a:p>
            <a:r>
              <a:rPr lang="he-IL" dirty="0"/>
              <a:t>עץ של איך נראה העץ של  כל אורך אפשרי</a:t>
            </a:r>
            <a:r>
              <a:rPr lang="en-US" dirty="0"/>
              <a:t> </a:t>
            </a:r>
            <a:r>
              <a:rPr lang="en-US" dirty="0" err="1"/>
              <a:t>CTm</a:t>
            </a:r>
            <a:r>
              <a:rPr lang="en-US" dirty="0"/>
              <a:t> TOP </a:t>
            </a:r>
            <a:r>
              <a:rPr lang="he-IL" dirty="0"/>
              <a:t> עצים משמעותיים</a:t>
            </a:r>
            <a:r>
              <a:rPr lang="en-US" dirty="0"/>
              <a:t> </a:t>
            </a:r>
            <a:r>
              <a:rPr lang="en-US" dirty="0" err="1"/>
              <a:t>shahar</a:t>
            </a:r>
            <a:endParaRPr lang="en-US" dirty="0"/>
          </a:p>
          <a:p>
            <a:r>
              <a:rPr lang="he-IL" dirty="0"/>
              <a:t>להוסיף </a:t>
            </a:r>
            <a:r>
              <a:rPr lang="en-US" dirty="0"/>
              <a:t>TASK </a:t>
            </a:r>
            <a:r>
              <a:rPr lang="he-IL" dirty="0"/>
              <a:t>2</a:t>
            </a:r>
            <a:r>
              <a:rPr lang="en-US" dirty="0"/>
              <a:t> yoni</a:t>
            </a:r>
            <a:endParaRPr lang="he-IL" dirty="0"/>
          </a:p>
          <a:p>
            <a:r>
              <a:rPr lang="he-IL" dirty="0"/>
              <a:t>להרחיב את הגרף</a:t>
            </a:r>
            <a:r>
              <a:rPr lang="en-US" dirty="0"/>
              <a:t> yoni</a:t>
            </a:r>
            <a:endParaRPr lang="he-I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42097"/>
      </p:ext>
    </p:extLst>
  </p:cSld>
  <p:clrMapOvr>
    <a:masterClrMapping/>
  </p:clrMapOvr>
</p:sld>
</file>

<file path=ppt/theme/theme1.xml><?xml version="1.0" encoding="utf-8"?>
<a:theme xmlns:a="http://schemas.openxmlformats.org/drawingml/2006/main" name="ברלין">
  <a:themeElements>
    <a:clrScheme name="ברלין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ברלין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ברלי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TM04033917[[fn=ברלין]]</Template>
  <TotalTime>712</TotalTime>
  <Words>708</Words>
  <Application>Microsoft Office PowerPoint</Application>
  <PresentationFormat>Widescreen</PresentationFormat>
  <Paragraphs>57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 Light</vt:lpstr>
      <vt:lpstr>Trebuchet MS</vt:lpstr>
      <vt:lpstr>ברלין</vt:lpstr>
      <vt:lpstr> Discovering patterns in Global Temperature  Order-Preserving Motifs (OPM) &amp; Cartesian Tree Matching (CTM)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לבנות גרף עבור עשרת המוטיבים הגדולים ביותר של CTM,OPM. </vt:lpstr>
      <vt:lpstr>עץ של איך נראה העץ של  CTF TOP  עצים משמעותיים </vt:lpstr>
      <vt:lpstr>OPM &amp; CTM Graph Results להרחיב את הגרף </vt:lpstr>
      <vt:lpstr>PowerPoint Presentation</vt:lpstr>
      <vt:lpstr>PowerPoint Presentation</vt:lpstr>
      <vt:lpstr>PowerPoint Presentation</vt:lpstr>
      <vt:lpstr>CTM OPMגרף שך כל המוטיפים מאורכים שונים </vt:lpstr>
      <vt:lpstr>Conclusions:</vt:lpstr>
      <vt:lpstr>Conclusions : Algorithmic Success!</vt:lpstr>
      <vt:lpstr>PowerPoint Presentation</vt:lpstr>
      <vt:lpstr>משימות: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יוני גרינברג</dc:creator>
  <cp:lastModifiedBy>יוני גרינברג</cp:lastModifiedBy>
  <cp:revision>6</cp:revision>
  <dcterms:created xsi:type="dcterms:W3CDTF">2026-01-12T16:55:04Z</dcterms:created>
  <dcterms:modified xsi:type="dcterms:W3CDTF">2026-01-13T07:50:13Z</dcterms:modified>
</cp:coreProperties>
</file>